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45720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5775" y="6537960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71655" y="5212080"/>
            <a:ext cx="45720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SHIELD AI</a:t>
            </a:r>
          </a:p>
          <a:p>
            <a:pPr algn="ctr">
              <a:spcBef>
                <a:spcPts val="800"/>
              </a:spcBef>
              <a:defRPr sz="2400" b="1">
                <a:solidFill>
                  <a:srgbClr val="22D3EE"/>
                </a:solidFill>
                <a:latin typeface="Trebuchet MS"/>
              </a:defRPr>
            </a:pPr>
            <a:r>
              <a:t>National Fraud Intelligence Operating System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ET AI Hackathon 2.0  |  Nalanda Degree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ECD"/>
                </a:solidFill>
                <a:latin typeface="Segoe UI"/>
              </a:defRPr>
            </a:pPr>
            <a:r>
              <a:t>Presented By</a:t>
            </a:r>
          </a:p>
          <a:p>
            <a:pPr algn="ctr">
              <a:spcBef>
                <a:spcPts val="400"/>
              </a:spcBef>
              <a:defRPr sz="2000" b="1">
                <a:solidFill>
                  <a:srgbClr val="F59E0B"/>
                </a:solidFill>
                <a:latin typeface="Trebuchet MS"/>
              </a:defRPr>
            </a:pPr>
            <a:r>
              <a:t>TEAM SUKUMARKARNAM4</a:t>
            </a:r>
          </a:p>
          <a:p>
            <a:pPr algn="ctr"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Sukumar Karanam  |  Shaik Mujeeb Basha  |  Bondada Tejendra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TEAM DOCKET &amp;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2 of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Our multidisciplinary team combines frontend engineering, backend development, and database architecture to build the SHIELD AI cybersecurity defense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474720" cy="365760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Sukumar Karanam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Project Role: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832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Frontend Developer &amp; AI/ML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848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Key Focus Area: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014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Built the React dashboard shell, mapped Fraud DNA heuristics, and integrated Citizen Copilot interface.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8030" y="2011680"/>
            <a:ext cx="3474720" cy="365760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5190" y="214884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Shaik Mujeeb Basha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190" y="265176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Project Role: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5190" y="306832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Backend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190" y="34848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Key Focus Area: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190" y="39014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Configured the FastAPI API gateway, secure JWT tokens, RBAC roles, and integrated intelligence models.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8335" y="2011680"/>
            <a:ext cx="3474720" cy="365760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5495" y="214884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Bondada Tejendra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495" y="265176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Project Role: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495" y="306832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Database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495" y="34848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Key Focus Area: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495" y="39014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Designed SQLite schemas, engineered SQLAlchemy relationships, and generated mock seed files.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evt="onBegin" delay="0"/>
                      </p:stCondLst>
                      <p:childTnLst>
                        <p:par>
                          <p:cTn id="3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evt="onBegin" delay="0"/>
                      </p:stCondLst>
                      <p:childTnLst>
                        <p:par>
                          <p:cTn id="3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evt="onBegin" delay="0"/>
                      </p:stCondLst>
                      <p:childTnLst>
                        <p:par>
                          <p:cTn id="4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3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WHAT IS SHIELD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SHIELD AI is a next-generation National Fraud Intelligence Operating System engineered to detect, track, and disrupt organized cyber fraud networks in real-time.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By aggregating regional citizen complaint logs into a unified relational data model, SHIELD AI performs deep analytics, entity resolutions, and automated investigative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The system serves as a mission-critical bridge between victim reports and law enforcement action, changing how digital crime is monitored and prosecuted in India.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6695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STRATEGIC MISSION &amp;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695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National Cyber Shield: Designed for the ET AI Hackathon 2.0 to protect citizens and support cyber police cells.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695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Proactive Defense: Converts passive complaints into active threat signatures using a 5-Dimensional Fraud DNA genome.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Extreme Investigation Speed: Traces financial mule account hops and compiles complete case dossiers in minutes rather than weeks.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695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Secure Scale: Utilizes strict RBAC authorization and audit logging to ensure operational database integrity.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THE SURGING CRISIS OF CYBER FRAUD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4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Trebuchet MS"/>
              </a:defRPr>
            </a:pPr>
            <a:r>
              <a:t>Digital Arrest Scams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Scammers pose as CBI/Police on video calls, placing victims under 'digital arrest' and coercing large deposits.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803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519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UPI &amp; WhatsApp Frauds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19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Exploiting QR code receive-money tricks or impersonating family members in hospital emergencies on WhatsApp.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742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458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Smishing &amp; 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58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Fake bank/utility SMS links deploying local keyloggers and stealing net banking credentials.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Burner Identity Theft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Acquiring bulk SIM cards using forged Aadhaar cards to mask locations and bypass OTP filters.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803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519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Slow Manual Policing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19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Relying on manual bank letters and spreadsheets, taking weeks to trace money routes.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742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458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Siloed State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458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Lack of cross-state data mapping blocks police from connecting local scams to massive multi-state rings.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evt="onBegin" delay="0"/>
                      </p:stCondLst>
                      <p:childTnLst>
                        <p:par>
                          <p:cTn id="3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evt="onBegin" delay="0"/>
                      </p:stCondLst>
                      <p:childTnLst>
                        <p:par>
                          <p:cTn id="3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WHY CURRENT SYSTEM DESIGNS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5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LIMITATIONS OF CONVENTIONAL PORTALS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Reactive Logging: Portals act as digital repository logs, registering scams but doing little to analyze patterns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Slow Inter-Agency Handoffs: Demanding data from banks or telecom carriers requires bureaucratic paperwork, giving scammers days to layer and withdraw funds.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Fragmented Case Context: Investigations view each report as an isolated incident, missing the larger organized syndicate layout.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Basic Search Indexing: Unable to run complex fuzzy logic links on misspelled names, burner phones, or related UPI IDs.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6695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Trebuchet MS"/>
              </a:defRPr>
            </a:pPr>
            <a:r>
              <a:t>THE SYSTEMIC DEFENSE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695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1. Zero Entity Graphing: Tracing money layers across multiple mule accounts requires manual ledger compilation.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2. No Syndicate Clustering: Organized syndicates in Mewat or Jamtara launch thousands of concurrent calls; current systems fail to group them under active 'families'.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695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3. Police Fatigue: Investigators manually type FIR complaints and cross-reference legal codes, causing processing queues.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695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4. Unprotected Citizens: Citizens have no automated tool to verify scam messages before paying.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THE SHIELD AI OPERATING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6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1. 5D Fraud 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Extracts Communication, Financial, Behavioral, Language, and Geo patterns from complaint descriptions.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803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519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2. Syndicate 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19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Groups isolated complaints sharing identical DNA fingerprints into active fraud family syndicates.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742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458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3. Entity Link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58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Connects Phones, UPI IDs, and bank accounts to map money flow and pinpoint syndicate hubs.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4. Automated Inquests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Aggregates evidence timelines, maps suspects, and drafts legal-ready BNS/IT Act FIR documents.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803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519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5. Geospatial Heatmaps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19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Tracks regional risk scores and hotspot growth rates across states and districts in real-time.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742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458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6. Citizen Copilot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458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multilingual AI safety assistant that analyzes scam texts and offers real-time warnings to citizens.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evt="onBegin" delay="0"/>
                      </p:stCondLst>
                      <p:childTnLst>
                        <p:par>
                          <p:cTn id="3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evt="onBegin" delay="0"/>
                      </p:stCondLst>
                      <p:childTnLst>
                        <p:par>
                          <p:cTn id="3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SHIELD AI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7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2286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1. Complaint Filed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Citizen submits narrative or forwards suspect message.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8" y="22860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645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783080"/>
            <a:ext cx="2286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2. DNA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AI extracts 5D indicators from narrative text.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16168" y="22860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2286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3. Family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860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Complaint matched to a known Fraud Syndicate.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05088" y="22860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15400" y="1645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1783080"/>
            <a:ext cx="2286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4. Graph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2860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Burner numbers &amp; UPIs linked to node network.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0058400" y="3429000"/>
            <a:ext cx="274320" cy="3657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15400" y="3931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4069080"/>
            <a:ext cx="2286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8. Police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5720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Instant node blocks and cyber raids executed.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8705088" y="4572000"/>
            <a:ext cx="182880" cy="274320"/>
          </a:xfrm>
          <a:prstGeom prst="lef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26480" y="3931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4069080"/>
            <a:ext cx="2286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7. FIR Drafted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5720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Legal Sections mapped to BNS/IT codes automatically.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5916168" y="4572000"/>
            <a:ext cx="182880" cy="274320"/>
          </a:xfrm>
          <a:prstGeom prst="lef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37560" y="3931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0" y="4069080"/>
            <a:ext cx="2286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6. Case Inquest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5720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Dossier built summarizing evidence &amp; timeline.</a:t>
            </a:r>
          </a:p>
        </p:txBody>
      </p:sp>
      <p:sp>
        <p:nvSpPr>
          <p:cNvPr id="34" name="Left Arrow 33"/>
          <p:cNvSpPr/>
          <p:nvPr/>
        </p:nvSpPr>
        <p:spPr>
          <a:xfrm>
            <a:off x="3127248" y="4572000"/>
            <a:ext cx="182880" cy="274320"/>
          </a:xfrm>
          <a:prstGeom prst="lef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3931920"/>
            <a:ext cx="256032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069080"/>
            <a:ext cx="2286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5. Scorecard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720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Threat priority calculated (Critical/High).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evt="onBegin" delay="0"/>
                      </p:stCondLst>
                      <p:childTnLst>
                        <p:par>
                          <p:cTn id="3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evt="onBegin" delay="0"/>
                      </p:stCondLst>
                      <p:childTnLst>
                        <p:par>
                          <p:cTn id="3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evt="onBegin" delay="0"/>
                      </p:stCondLst>
                      <p:childTnLst>
                        <p:par>
                          <p:cTn id="4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evt="onBegin" delay="0"/>
                      </p:stCondLst>
                      <p:childTnLst>
                        <p:par>
                          <p:cTn id="4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evt="onBegin" delay="0"/>
                      </p:stCondLst>
                      <p:childTnLst>
                        <p:par>
                          <p:cTn id="4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evt="onBegin" delay="0"/>
                      </p:stCondLst>
                      <p:childTnLst>
                        <p:par>
                          <p:cTn id="4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evt="onBegin" delay="0"/>
                      </p:stCondLst>
                      <p:childTnLst>
                        <p:par>
                          <p:cTn id="4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evt="onBegin" delay="0"/>
                      </p:stCondLst>
                      <p:childTnLst>
                        <p:par>
                          <p:cTn id="5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evt="onBegin" delay="0"/>
                      </p:stCondLst>
                      <p:childTnLst>
                        <p:par>
                          <p:cTn id="5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evt="onBegin" delay="0"/>
                      </p:stCondLst>
                      <p:childTnLst>
                        <p:par>
                          <p:cTn id="5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evt="onBegin" delay="0"/>
                      </p:stCondLst>
                      <p:childTnLst>
                        <p:par>
                          <p:cTn id="5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evt="onBegin" delay="0"/>
                      </p:stCondLst>
                      <p:childTnLst>
                        <p:par>
                          <p:cTn id="5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evt="onBegin" delay="0"/>
                      </p:stCondLst>
                      <p:childTnLst>
                        <p:par>
                          <p:cTn id="6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evt="onBegin" delay="0"/>
                      </p:stCondLst>
                      <p:childTnLst>
                        <p:par>
                          <p:cTn id="6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evt="onBegin" delay="0"/>
                      </p:stCondLst>
                      <p:childTnLst>
                        <p:par>
                          <p:cTn id="6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SYSTEM COMPONENT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8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1. CLIENT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Command Center UI: Responsive React interface showing charts and stats.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Fraud DNA Grid: Details dimensional indicators and clusters.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Graph Explorer: Visual link node-edge layouts (React Flow).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136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Geospatial Map: Heatmaps powered by coordinate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792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Citizen Assistant: Dynamic React view showing copilot recommendations.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8030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519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2. CORE API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19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FastAPI Web Engine: Fast async handlers serving API calls.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5190" y="2428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Router Modules: Separated endpoints (Auth, DNA, Graph, Copilot, GIS).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190" y="28448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Authentication: Strict OAuth2 security with JWT 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190" y="326136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AI Services: Intent analysis and pattern matching services.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190" y="367792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Graph Solver: SQLite join logic mapping multi-hop links.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8335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5495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3. CORE 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495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SQLite Database: Unified storage for cases and relationships.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495" y="2428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SQLAlchemy ORM: Model mapping and database interface layer.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495" y="28448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Audit logging: Record user IP addresses, actions, and timestamps.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495" y="326136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Threat Indexes: State/District grid coordinates and densities.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495" y="367792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Alembic versioning: Standard schema history migrations.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evt="onBegin" delay="0"/>
                      </p:stCondLst>
                      <p:childTnLst>
                        <p:par>
                          <p:cTn id="3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evt="onBegin" delay="0"/>
                      </p:stCondLst>
                      <p:childTnLst>
                        <p:par>
                          <p:cTn id="3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evt="onBegin" delay="0"/>
                      </p:stCondLst>
                      <p:childTnLst>
                        <p:par>
                          <p:cTn id="4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evt="onBegin" delay="0"/>
                      </p:stCondLst>
                      <p:childTnLst>
                        <p:par>
                          <p:cTn id="4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evt="onBegin" delay="0"/>
                      </p:stCondLst>
                      <p:childTnLst>
                        <p:par>
                          <p:cTn id="4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TECHNOLOGY STACK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9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FRONTEND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React (TypeScript)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Vite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React Flow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TailwindCSS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79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Lucide Icons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6830" y="137160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399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BACKEND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99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99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Python 3.14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99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JWT 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3990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Uvicorn ASGI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990" y="36779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Pydantic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DATABASE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891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SQLite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05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SQLAlchemy 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22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Alembic Migrations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38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SQL Indexes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055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Foreign Keys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6830" y="374904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3990" y="388620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AI &amp;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3990" y="43891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5D DNA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3990" y="4805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Rule Clustered NLP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3990" y="5222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GIS Risk Solver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990" y="5638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Custom Hotspot Math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3990" y="6055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Fuzzy Entity Match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evt="onBegin" delay="0"/>
                      </p:stCondLst>
                      <p:childTnLst>
                        <p:par>
                          <p:cTn id="3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evt="onBegin" delay="0"/>
                      </p:stCondLst>
                      <p:childTnLst>
                        <p:par>
                          <p:cTn id="3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evt="onBegin" delay="0"/>
                      </p:stCondLst>
                      <p:childTnLst>
                        <p:par>
                          <p:cTn id="4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evt="onBegin" delay="0"/>
                      </p:stCondLst>
                      <p:childTnLst>
                        <p:par>
                          <p:cTn id="4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evt="onBegin" delay="0"/>
                      </p:stCondLst>
                      <p:childTnLst>
                        <p:par>
                          <p:cTn id="4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evt="onBegin" delay="0"/>
                      </p:stCondLst>
                      <p:childTnLst>
                        <p:par>
                          <p:cTn id="4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evt="onBegin" delay="0"/>
                      </p:stCondLst>
                      <p:childTnLst>
                        <p:par>
                          <p:cTn id="4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evt="onBegin" delay="0"/>
                      </p:stCondLst>
                      <p:childTnLst>
                        <p:par>
                          <p:cTn id="5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evt="onBegin" delay="0"/>
                      </p:stCondLst>
                      <p:childTnLst>
                        <p:par>
                          <p:cTn id="5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evt="onBegin" delay="0"/>
                      </p:stCondLst>
                      <p:childTnLst>
                        <p:par>
                          <p:cTn id="5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evt="onBegin" delay="0"/>
                      </p:stCondLst>
                      <p:childTnLst>
                        <p:par>
                          <p:cTn id="5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evt="onBegin" delay="0"/>
                      </p:stCondLst>
                      <p:childTnLst>
                        <p:par>
                          <p:cTn id="5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EXECUTIVE COMMAND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10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UNIFIED THREAT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System Health Monitor: Shows current core metrics in real-time.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Interactive Scorecard: Aggregates total complaints, active families, money saved, and cyber alerts.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Monthly evolution: Plots historical complaint counts and average risk scores.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Geospatial summary: Instantly lists highest risk states (e.g. Jharkhand, Haryana) and emerging districts (Jamtara, Nuh) to allocate police resources.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SHIELD FIOS COMMAND COCKPIT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3855" y="1920240"/>
            <a:ext cx="1463040" cy="7315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SAVED</a:t>
            </a:r>
            <a:br/>
            <a:r>
              <a:t>₹45.0 LAKH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9775" y="1920240"/>
            <a:ext cx="1463040" cy="7315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ALERTS</a:t>
            </a:r>
            <a:br/>
            <a:r>
              <a:t>1,450 Cases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5695" y="1920240"/>
            <a:ext cx="1463040" cy="7315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SYNDICATES</a:t>
            </a:r>
            <a:br/>
            <a:r>
              <a:t>50 Clusters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13855" y="2834640"/>
            <a:ext cx="4754880" cy="2194560"/>
          </a:xfrm>
          <a:prstGeom prst="rect">
            <a:avLst/>
          </a:prstGeom>
          <a:solidFill>
            <a:srgbClr val="0814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71055" y="3383280"/>
            <a:ext cx="548640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Jan</a:t>
            </a:r>
            <a:br/>
            <a: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85455" y="3200400"/>
            <a:ext cx="548640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Feb</a:t>
            </a:r>
            <a:br/>
            <a: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9855" y="2926080"/>
            <a:ext cx="548640" cy="19202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Mar</a:t>
            </a:r>
            <a:br/>
            <a:r>
              <a:t>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4255" y="3566160"/>
            <a:ext cx="54864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Apr</a:t>
            </a:r>
            <a:br/>
            <a:r>
              <a:t>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13855" y="5120639"/>
            <a:ext cx="4754880" cy="36576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B4BECD"/>
                </a:solidFill>
                <a:latin typeface="Segoe UI"/>
              </a:defRPr>
            </a:pPr>
            <a:r>
              <a:t>System Integrity: SECURE  |  API Connection: ACTIVE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evt="onBegin" delay="0"/>
                      </p:stCondLst>
                      <p:childTnLst>
                        <p:par>
                          <p:cTn id="3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5-DIMENSIONAL FRAUD DNA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11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EXTRACTING THE FRAUD GENOME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Communication DNA: Maps linguistic triggers (e.g. CBI threat, custom parcel warnings, part-time Telegram tasks).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Financial DNA: Tracks transaction patterns (UPI codes, dynamic QR codes, dynamic bank transfers).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Behavioral DNA: Identifies psychological pressure (urgency, arrest warnings, isolation tactics).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Language DNA: Detects speech templates (Telugu, Hindi, Tamil).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79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Geo DNA: Links calls to known threat cells (Jamtara, Mewat).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FRAUD DNA GENOME INDEX PROFILE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3855" y="192024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22D3EE"/>
                </a:solidFill>
                <a:latin typeface="Segoe UI"/>
              </a:defRPr>
            </a:pPr>
            <a:r>
              <a:t>CASE REFERENCE: #COMP-481</a:t>
            </a:r>
            <a:br/>
            <a:r>
              <a:t>Source: Digital Arrest Scam | Confidence: 94%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13855" y="2651760"/>
            <a:ext cx="4754880" cy="2560320"/>
          </a:xfrm>
          <a:prstGeom prst="rect">
            <a:avLst/>
          </a:prstGeom>
          <a:solidFill>
            <a:srgbClr val="0814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96735" y="2834640"/>
            <a:ext cx="20116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COMM: Fake CBI Police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1295" y="2834640"/>
            <a:ext cx="20116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3B82F6"/>
                </a:solidFill>
                <a:latin typeface="Segoe UI"/>
              </a:defRPr>
            </a:pPr>
            <a:r>
              <a:t>FIN: UPI Collection QR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96735" y="3566160"/>
            <a:ext cx="20116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BEH: Coercion &amp; Co-sharing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1295" y="3566160"/>
            <a:ext cx="20116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LANG: Telugu 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6735" y="4297680"/>
            <a:ext cx="420624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22D3EE"/>
                </a:solidFill>
                <a:latin typeface="Segoe UI"/>
              </a:defRPr>
            </a:pPr>
            <a:r>
              <a:t>GEO: Jamtara (Jharkhand) Origin Hotspot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AUTOMATED FRAUD FAMILY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12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CLUSTERING SCAM CAMPAIGNS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Syndicate Clustering: Combines multiple individual complaints into unified 'Fraud Families' if they share matching DNA hashes.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Campaign Mapping: Discovers Mewat UPI rings or Jamtara smishing hubs in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Operational Scale: Allows law enforcement agencies to deploy targeted interventions against entire syndicates rather than chasing isolated reports.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Custom Mappings: Identifies traits, scam types, and risk levels.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DISCOVERED FRAUD SYNDICATES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3855" y="1920240"/>
            <a:ext cx="47548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FAMILY CODE | TYPE | RISK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3855" y="246888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DIGITAL_ARREST_001 | CBI Custom Arrest | 93% [CRITICAL]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13855" y="310896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UPI_FRAUD_003 | Electricity Bill Ring | 85% [HIGH RISK]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13855" y="374904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WHATSAPP_SCAM_005 | Son Emergency | 78% [HIGH RISK]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3855" y="4389120"/>
            <a:ext cx="4754880" cy="5486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3B82F6"/>
                </a:solidFill>
                <a:latin typeface="Segoe UI"/>
              </a:defRPr>
            </a:pPr>
            <a:r>
              <a:t>SMS_SCAM_008 | PAN Phishing | 72% [MEDIUM RISK]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FRAUD GRAPH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13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LINK ANALYSIS &amp;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Network Mapping: Connects nodes (Victims, Phones, UPI IDs, bank accounts) via relational edges (REPORTED_BY, LINKED_TO, CONNECTED_TO).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Central Hub Detection: Instantly flags phone numbers or UPI accounts connected to multiple complaints across states.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Money Flow Tracing: Helps cyber cells visualize multi-tier mule account hops to intercept transactions before withdrawal.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ENTITY RESOLUTION LINK GRAPH</a:t>
            </a:r>
          </a:p>
        </p:txBody>
      </p:sp>
      <p:sp>
        <p:nvSpPr>
          <p:cNvPr id="14" name="Oval 13"/>
          <p:cNvSpPr/>
          <p:nvPr/>
        </p:nvSpPr>
        <p:spPr>
          <a:xfrm>
            <a:off x="8259775" y="3017520"/>
            <a:ext cx="1463040" cy="10972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Syndicate</a:t>
            </a:r>
            <a:br/>
            <a:r>
              <a:t>ARREST_001</a:t>
            </a:r>
          </a:p>
        </p:txBody>
      </p:sp>
      <p:sp>
        <p:nvSpPr>
          <p:cNvPr id="15" name="Oval 14"/>
          <p:cNvSpPr/>
          <p:nvPr/>
        </p:nvSpPr>
        <p:spPr>
          <a:xfrm>
            <a:off x="6705295" y="1920240"/>
            <a:ext cx="109728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Phone</a:t>
            </a:r>
            <a:br/>
            <a:r>
              <a:t>+91-7001...</a:t>
            </a:r>
          </a:p>
        </p:txBody>
      </p:sp>
      <p:sp>
        <p:nvSpPr>
          <p:cNvPr id="16" name="Oval 15"/>
          <p:cNvSpPr/>
          <p:nvPr/>
        </p:nvSpPr>
        <p:spPr>
          <a:xfrm>
            <a:off x="10088574" y="1920240"/>
            <a:ext cx="118872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UPI ID</a:t>
            </a:r>
            <a:br/>
            <a:r>
              <a:t>ref@okaxis</a:t>
            </a:r>
          </a:p>
        </p:txBody>
      </p:sp>
      <p:sp>
        <p:nvSpPr>
          <p:cNvPr id="17" name="Oval 16"/>
          <p:cNvSpPr/>
          <p:nvPr/>
        </p:nvSpPr>
        <p:spPr>
          <a:xfrm>
            <a:off x="6705295" y="4206240"/>
            <a:ext cx="109728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Victim A</a:t>
            </a:r>
            <a:br/>
            <a:r>
              <a:t>Aarav</a:t>
            </a:r>
          </a:p>
        </p:txBody>
      </p:sp>
      <p:sp>
        <p:nvSpPr>
          <p:cNvPr id="18" name="Oval 17"/>
          <p:cNvSpPr/>
          <p:nvPr/>
        </p:nvSpPr>
        <p:spPr>
          <a:xfrm>
            <a:off x="10088574" y="4206240"/>
            <a:ext cx="1097280" cy="8229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Complaint</a:t>
            </a:r>
            <a:br/>
            <a:r>
              <a:t>Ref-104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1135" y="2560320"/>
            <a:ext cx="640080" cy="54864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31375" y="2560320"/>
            <a:ext cx="548640" cy="54864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11135" y="3931920"/>
            <a:ext cx="640080" cy="45720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31375" y="3931920"/>
            <a:ext cx="548640" cy="457200"/>
          </a:xfrm>
          <a:prstGeom prst="rect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INVESTIGATION OPERATIONS 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14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AUTOMATED DIGITAL DOSSIERS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Dossier Compilation: The agent aggregates complaints, suspect details, communications, and money paths into a clean case dossier.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Real-Time Legal Mapping: Cites specific sections of the Bharatiya Nyaya Sanhita (BNS) and the IT Act based on scam traits.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Zero-Touch FIR Drafting: Instantly generates a printable, legal-ready FIR draft for police submission, speeding up the legal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CASE DOSSIER WORKSPACE: #C-104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3855" y="1920240"/>
            <a:ext cx="4754880" cy="91440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SUMMARY: Digital Arrest fraud reported. Victim was forced into a video call and transferred money under coercion.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3855" y="2926080"/>
            <a:ext cx="4754880" cy="100584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22D3EE"/>
                </a:solidFill>
                <a:latin typeface="Segoe UI"/>
              </a:defRPr>
            </a:pPr>
            <a:r>
              <a:t>EVIDENCE NODES FLAGGED:</a:t>
            </a:r>
            <a:br/>
            <a:r>
              <a:t>- Phone: +91 7001428399 (Burner - Mewat)</a:t>
            </a:r>
            <a:br/>
            <a:r>
              <a:t>- UPI: refund.support844@okaxis (Ahmedabad)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3855" y="4023360"/>
            <a:ext cx="4754880" cy="10972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LEGAL ACTION RECOMMENDATION:</a:t>
            </a:r>
            <a:br/>
            <a:r>
              <a:t>- Sec 318(4) BNS [Cheating by Personation]</a:t>
            </a:r>
            <a:br/>
            <a:r>
              <a:t>- Sec 66D IT Act [Cheating using Computer Resource]</a:t>
            </a:r>
            <a:br/>
            <a:r>
              <a:t>- NPCI block commands generated for linked nodes.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GEOSPATIAL RISK COCKPIT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15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SPATIAL THREAT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Risk Scoring: Calculates regional threat scores by aggregating total cases and monetary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Hotspot Tracking: Detects emerging cybercrime epicenters and tracks growth rates.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Resource Deployment: Helps cyber police cells map risk concentration by state (Jharkhand: 92.5) and district (Jamtara: 94.0) to focus investigation sweeps.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GEOSPATIAL THREAT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3855" y="1920240"/>
            <a:ext cx="2194560" cy="10972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ACTIVE HOTSPOTS</a:t>
            </a:r>
            <a:br/>
            <a:r>
              <a:t>15 Regions</a:t>
            </a:r>
            <a:br/>
            <a:r>
              <a:t>Status: ACCELERATING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1295" y="1920240"/>
            <a:ext cx="2377440" cy="10972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TOP RISK DISTRICTS</a:t>
            </a:r>
            <a:br/>
            <a:r>
              <a:t>1. Jamtara (94.0)</a:t>
            </a:r>
            <a:br/>
            <a:r>
              <a:t>2. Nuh (91.0)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3855" y="3200400"/>
            <a:ext cx="4754880" cy="2011680"/>
          </a:xfrm>
          <a:prstGeom prst="rect">
            <a:avLst/>
          </a:prstGeom>
          <a:solidFill>
            <a:srgbClr val="0814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REGIONAL RISK GRID:</a:t>
            </a:r>
            <a:br/>
            <a:r>
              <a:t>- Jharkhand: 120 complaints (Avg Risk: 92.5)</a:t>
            </a:r>
            <a:br/>
            <a:r>
              <a:t>- Haryana: 95 complaints (Avg Risk: 89.2)</a:t>
            </a:r>
            <a:br/>
            <a:r>
              <a:t>- Rajasthan: 88 complaints (Avg Risk: 87.0)</a:t>
            </a:r>
            <a:br/>
            <a:r>
              <a:t>- Gujarat: 60 complaints (Avg Risk: 78.1)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CITIZEN COPILOT 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16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PROACTIVE CITIZEN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Intent Checking: Let citizens forward suspicious texts, links, or audio scripts to check for scam intent.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Multilingual AI Assistant: Auto-detects language and translates safety tips into Hindi, Telugu, Tamil, and Malayalam.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Real-time Warning Cards: Highlights immediate safety checklists to prevent citizens from sharing bank details or PINs.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CITIZEN COPILOT SHIELD CHAT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3855" y="1920240"/>
            <a:ext cx="3657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B4BECD"/>
                </a:solidFill>
                <a:latin typeface="Segoe UI"/>
              </a:defRPr>
            </a:pPr>
            <a:r>
              <a:t>CITIZEN: I got a WhatsApp message from a relative asking for Rs. 50,000 urgently to a new UPI ID. Is this safe?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11135" y="2834640"/>
            <a:ext cx="3657600" cy="1280160"/>
          </a:xfrm>
          <a:prstGeom prst="rect">
            <a:avLst/>
          </a:prstGeom>
          <a:solidFill>
            <a:srgbClr val="18305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COPILOT AI:</a:t>
            </a:r>
            <a:br/>
            <a:r>
              <a:t>🚨 CRITICAL THREAT DETECTED!</a:t>
            </a:r>
            <a:br/>
            <a:r>
              <a:t>- Modus: WhatsApp Relative Impersonation</a:t>
            </a:r>
            <a:br/>
            <a:r>
              <a:t>- Step: DO NOT transfer funds. Call relative on their known phone number to verify.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3855" y="4297680"/>
            <a:ext cx="475488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900" b="1">
                <a:solidFill>
                  <a:srgbClr val="061224"/>
                </a:solidFill>
                <a:latin typeface="Segoe UI"/>
              </a:defRPr>
            </a:pPr>
            <a:r>
              <a:t>✅ SAFE STEP: suspect UPI ID reported to National Cyber Crime portal (1930) automatically.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DATABASE SCHEMAS &amp;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17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SHIELD DATABASE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The platform uses a relational schema designed for SQLite to trace complex cases and log security incidents.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Main database tables: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users: Stores investigator profiles and roles.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complaints: Contains crime descriptions, threat levels, and shield scores.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79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fraud_dna: Holds extracted scam signatures and threat vectors.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44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fraud_families: Groups clustered syndicate codes.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110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investigations: Tracks case dockets, network nodes, and FIR drafts.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0A192F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39535" y="1371600"/>
            <a:ext cx="5303520" cy="365760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D3EE"/>
                </a:solidFill>
                <a:latin typeface="Trebuchet MS"/>
              </a:defRPr>
            </a:pPr>
            <a:r>
              <a:t>💻 SHIELD RELATIONAL ENTITY GRID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2415" y="1828800"/>
            <a:ext cx="2194560" cy="15544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[users]</a:t>
            </a:r>
            <a:br/>
            <a:r>
              <a:t>id (PK)</a:t>
            </a:r>
            <a:br/>
            <a:r>
              <a:t>username</a:t>
            </a:r>
            <a:br/>
            <a:r>
              <a:t>email</a:t>
            </a:r>
            <a:br/>
            <a:r>
              <a:t>hashed_password</a:t>
            </a:r>
            <a:br/>
            <a:r>
              <a:t>role</a:t>
            </a:r>
            <a:br/>
            <a:r>
              <a:t>is_active</a:t>
            </a:r>
            <a:br/>
            <a:r>
              <a:t>created_at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1295" y="1828800"/>
            <a:ext cx="246888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22D3EE"/>
                </a:solidFill>
                <a:latin typeface="Segoe UI"/>
              </a:defRPr>
            </a:pPr>
            <a:r>
              <a:t>[complaints]</a:t>
            </a:r>
            <a:br/>
            <a:r>
              <a:t>id (PK)</a:t>
            </a:r>
            <a:br/>
            <a:r>
              <a:t>citizen_name</a:t>
            </a:r>
            <a:br/>
            <a:r>
              <a:t>description</a:t>
            </a:r>
            <a:br/>
            <a:r>
              <a:t>shield_score</a:t>
            </a:r>
            <a:br/>
            <a:r>
              <a:t>threat_level</a:t>
            </a:r>
            <a:br/>
            <a:r>
              <a:t>fraud_dna_id (FK)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2415" y="3566160"/>
            <a:ext cx="2194560" cy="16459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F59E0B"/>
                </a:solidFill>
                <a:latin typeface="Segoe UI"/>
              </a:defRPr>
            </a:pPr>
            <a:r>
              <a:t>[fraud_dna]</a:t>
            </a:r>
            <a:br/>
            <a:r>
              <a:t>id (PK)</a:t>
            </a:r>
            <a:br/>
            <a:r>
              <a:t>fraud_family_id (FK)</a:t>
            </a:r>
            <a:br/>
            <a:r>
              <a:t>scam_signature</a:t>
            </a:r>
            <a:br/>
            <a:r>
              <a:t>modus_operandi</a:t>
            </a:r>
            <a:br/>
            <a:r>
              <a:t>confidence_score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1295" y="3566160"/>
            <a:ext cx="2468880" cy="15544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defRPr sz="800" b="0">
                <a:solidFill>
                  <a:srgbClr val="10B981"/>
                </a:solidFill>
                <a:latin typeface="Segoe UI"/>
              </a:defRPr>
            </a:pPr>
            <a:r>
              <a:t>[fraud_families]</a:t>
            </a:r>
            <a:br/>
            <a:r>
              <a:t>id (PK)</a:t>
            </a:r>
            <a:br/>
            <a:r>
              <a:t>family_code</a:t>
            </a:r>
            <a:br/>
            <a:r>
              <a:t>name</a:t>
            </a:r>
            <a:br/>
            <a:r>
              <a:t>main_scam_type</a:t>
            </a:r>
            <a:br/>
            <a:r>
              <a:t>risk_score</a:t>
            </a:r>
            <a:br/>
            <a:r>
              <a:t>risk_level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CORE API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18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AUTH &amp; USER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/api/v1/auth/login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/api/v1/auth/me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803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519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COMPLAINT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19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/api/v1/complaints/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190" y="2428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/api/v1/complaints/stats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190" y="28448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/api/v1/complaints/{id}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742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458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FRAUD DNA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58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/api/v1/dna/families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580" y="2428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/api/v1/dna/family/{id}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4580" y="28448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/api/v1/dna/statistics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GEOSPATIAL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/api/v1/geospatial/overview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14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/api/v1/geospatial/hotspots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308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/api/v1/geospatial/districts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803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519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Trebuchet MS"/>
              </a:defRPr>
            </a:pPr>
            <a:r>
              <a:t>INVESTIGATION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19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/api/v1/investigation/analyze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190" y="4714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/api/v1/investigation/{id}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5190" y="51308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/api/v1/fir/generate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6742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458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CITIZEN COPILOT 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458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/api/v1/copilot/chat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4580" y="4714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POST /api/v1/copilot/analyze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4580" y="51308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GET /api/v1/copilot/prevention-tips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evt="onBegin" delay="0"/>
                      </p:stCondLst>
                      <p:childTnLst>
                        <p:par>
                          <p:cTn id="3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evt="onBegin" delay="0"/>
                      </p:stCondLst>
                      <p:childTnLst>
                        <p:par>
                          <p:cTn id="3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evt="onBegin" delay="0"/>
                      </p:stCondLst>
                      <p:childTnLst>
                        <p:par>
                          <p:cTn id="4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evt="onBegin" delay="0"/>
                      </p:stCondLst>
                      <p:childTnLst>
                        <p:par>
                          <p:cTn id="4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evt="onBegin" delay="0"/>
                      </p:stCondLst>
                      <p:childTnLst>
                        <p:par>
                          <p:cTn id="4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evt="onBegin" delay="0"/>
                      </p:stCondLst>
                      <p:childTnLst>
                        <p:par>
                          <p:cTn id="4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evt="onBegin" delay="0"/>
                      </p:stCondLst>
                      <p:childTnLst>
                        <p:par>
                          <p:cTn id="4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evt="onBegin" delay="0"/>
                      </p:stCondLst>
                      <p:childTnLst>
                        <p:par>
                          <p:cTn id="5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evt="onBegin" delay="0"/>
                      </p:stCondLst>
                      <p:childTnLst>
                        <p:par>
                          <p:cTn id="5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evt="onBegin" delay="0"/>
                      </p:stCondLst>
                      <p:childTnLst>
                        <p:par>
                          <p:cTn id="5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evt="onBegin" delay="0"/>
                      </p:stCondLst>
                      <p:childTnLst>
                        <p:par>
                          <p:cTn id="5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evt="onBegin" delay="0"/>
                      </p:stCondLst>
                      <p:childTnLst>
                        <p:par>
                          <p:cTn id="5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evt="onBegin" delay="0"/>
                      </p:stCondLst>
                      <p:childTnLst>
                        <p:par>
                          <p:cTn id="6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SHIELD AI INNOVATION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19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1. 5D Fraud DNA Profiling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Extracts and layers 5 dimensions (Comm, Fin, Beh, Lang, Geo) of scam descriptions to create a unique threat index.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803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519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2. Automated Syndicate 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19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Groups isolated complaints into unified syndicates automatically to target the root campaigns.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7420" y="1371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458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3. Live Entity resolution link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58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Visualizes connections between burner numbers, UPI IDs, and mule accounts to detect network hubs.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4. Legally-Mapped Case Dossiers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Generates comprehensive evidence dockets and drafts legal-ready FIR texts citing BNS and IT Act codes.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803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519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5. Real-Time Risk 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19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Tracks cyber threat densities and hotspots by state and district to optimize police sweeps.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7420" y="3657600"/>
            <a:ext cx="3474720" cy="201168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4580" y="3794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6. Multilingual Shield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4580" y="4297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conversational AI assistant that offers real-time safety steps in Telugu, Hindi, Tamil, Kannada, and Malayalam.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evt="onBegin" delay="0"/>
                      </p:stCondLst>
                      <p:childTnLst>
                        <p:par>
                          <p:cTn id="3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evt="onBegin" delay="0"/>
                      </p:stCondLst>
                      <p:childTnLst>
                        <p:par>
                          <p:cTn id="3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SYSTEM RESULTS &amp; OPERATIONAL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20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INVESTIGATION VELOCITY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Before SHIELD AI: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Tracing a single case required manual letters to banks and telecom carriers, taking weeks.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Scam syndicates operated undetected across borders.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High monetary losses occurred before freezing requests were completed.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79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0944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After SHIELD AI: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110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Immediate DNA extraction and entity linkage reduces tracing time from weeks to minutes (98% faster).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276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Proactive clustering isolates Mewat/Jamtara hotspots on day 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9535" y="1371600"/>
            <a:ext cx="53035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6695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CITIZEN DEFENSE &amp; LOSS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695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Instant Incident Warnings: Real-time risk cards warn citizens within seconds of forwarding scam texts, blocking financial leakage.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695" y="242824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High-Accuracy Detections: Over 92% accurate clustering of similar case signatures.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695" y="284480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Automated FIR Compilation: Saves cyber cell investigators hours of paperwork, speeding up prosecution.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695" y="32613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Unified Command Console: Provides state cyber wings with clear dashboard metrics to deploy teams efficiently.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evt="onBegin" delay="0"/>
                      </p:stCondLst>
                      <p:childTnLst>
                        <p:par>
                          <p:cTn id="3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FUTURE RESEARCH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21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Deepfake Audio/Video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Integrate AI checkers to flag synthetic voice clones and video face swaps used in digital arrest scams.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6830" y="137160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3990" y="150876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Instant Bank API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990" y="201168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Partner with NPCI and major banks to automatically freeze flagged mule accounts within minutes of verification.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Telecom Carrier Sandboxing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Deploy network-level filters to screen smishing text links before they reach citizen devices.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6830" y="3749040"/>
            <a:ext cx="5303520" cy="2103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3990" y="3886200"/>
            <a:ext cx="5029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Predictive Hotspot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990" y="438912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Utilize machine learning to forecast future geo-crime shifts, anticipating where next-gen fraud rings will emerge.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2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Trebuchet M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ECD"/>
                </a:solidFill>
                <a:latin typeface="Segoe UI"/>
              </a:defRPr>
            </a:pPr>
            <a:r>
              <a:t>ET AI Hackathon 2.0  |  TEAM SUKUMARKARNAM4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1274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CD"/>
                </a:solidFill>
                <a:latin typeface="Segoe UI"/>
              </a:defRPr>
            </a:pPr>
            <a:r>
              <a:t>Slide 22 of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Trebuchet MS"/>
              </a:defRPr>
            </a:pPr>
            <a:r>
              <a:t>PROTECTING CITIZENS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SHIELD AI safeguards citizens through proactive threat prevention.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8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By offering real-time scam assessments and safety tips in regional languages, it prevents financial losses before they happen.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4297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rPr dirty="0"/>
              <a:t>It puts security checks directly in the hands of the public.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8030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5190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EMPOWERING POLICE CELLS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190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The system acts as a digital accelerator for cyber investigations.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190" y="2428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By automating case link graphing and drafting BNS-aligned complaints, it helps investigators resolve cases in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190" y="3050903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rPr dirty="0"/>
              <a:t>This shifts law enforcement from manual logs to automated intelligence.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68335" y="1371600"/>
            <a:ext cx="3474720" cy="4389120"/>
          </a:xfrm>
          <a:prstGeom prst="rect">
            <a:avLst/>
          </a:prstGeom>
          <a:solidFill>
            <a:srgbClr val="10203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5495" y="1508760"/>
            <a:ext cx="32004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Trebuchet MS"/>
              </a:defRPr>
            </a:pPr>
            <a:r>
              <a:t>DEFENDING DIGITAL 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495" y="20116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As India's digital economy expands, SHIELD AI defends cyber corridors.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495" y="242824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It provides a scalable framework to combat modern organized syndicates.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495" y="284480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proud submission to the ET AI Hackathon 2.0, supporting secure digital growth.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evt="onBegin" delay="0"/>
                      </p:stCondLst>
                      <p:childTnLst>
                        <p:par>
                          <p:cTn id="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evt="onBegin"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evt="onBegin" delay="0"/>
                      </p:stCondLst>
                      <p:childTnLst>
                        <p:par>
                          <p:cTn id="1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evt="onBegin" delay="0"/>
                      </p:stCondLst>
                      <p:childTnLst>
                        <p:par>
                          <p:cTn id="1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evt="onBegin"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evt="onBegin" delay="0"/>
                      </p:stCondLst>
                      <p:childTnLst>
                        <p:par>
                          <p:cTn id="1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evt="onBegin" delay="0"/>
                      </p:stCondLst>
                      <p:childTnLst>
                        <p:par>
                          <p:cTn id="2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evt="onBegin" delay="0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evt="onBegin" delay="0"/>
                      </p:stCondLst>
                      <p:childTnLst>
                        <p:par>
                          <p:cTn id="24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Begin"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evt="onBegin" delay="0"/>
                      </p:stCondLst>
                      <p:childTnLst>
                        <p:par>
                          <p:cTn id="28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evt="onBegin" delay="0"/>
                      </p:stCondLst>
                      <p:childTnLst>
                        <p:par>
                          <p:cTn id="30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evt="onBegin" delay="0"/>
                      </p:stCondLst>
                      <p:childTnLst>
                        <p:par>
                          <p:cTn id="32" presetID="1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45720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45775" y="6537960"/>
            <a:ext cx="13716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71655" y="5212080"/>
            <a:ext cx="45720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2D3EE"/>
                </a:solidFill>
                <a:latin typeface="Trebuchet MS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Protecting Digital India  |  ET AI Hackathon 2.0</a:t>
            </a:r>
          </a:p>
          <a:p>
            <a:pPr algn="ctr">
              <a:spcBef>
                <a:spcPts val="1600"/>
              </a:spcBef>
              <a:defRPr sz="1600" b="1">
                <a:solidFill>
                  <a:srgbClr val="10B981"/>
                </a:solidFill>
                <a:latin typeface="Segoe UI"/>
              </a:defRPr>
            </a:pPr>
            <a:r>
              <a:t>TEAM SUKUMARKARNAM4  |  Nalanda Degree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4BECD"/>
                </a:solidFill>
                <a:latin typeface="Segoe UI"/>
              </a:defRPr>
            </a:pPr>
            <a:r>
              <a:t>DEVELOPMENT TEAM:</a:t>
            </a:r>
          </a:p>
          <a:p>
            <a:pPr algn="ctr">
              <a:spcBef>
                <a:spcPts val="600"/>
              </a:spcBef>
              <a:defRPr sz="1400">
                <a:solidFill>
                  <a:srgbClr val="FFFFFF"/>
                </a:solidFill>
                <a:latin typeface="Segoe UI"/>
              </a:defRPr>
            </a:pPr>
            <a:r>
              <a:t>Sukumar Karanam (AI/ML &amp; Frontend)  •  Shaik Mujeeb Basha (Backend)  •  Bondada Tejendra (Database)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>
                      <p:stCondLst>
                        <p:cond evt="onBegin" delay="0"/>
                      </p:stCondLst>
                      <p:childTnLst>
                        <p:par>
                          <p:cTn id="6" presetID="10" presetClass="entr" presetSubtype="0" fill="hold" nodeType="clickEffect">
                            <p:stCondLst>
                              <p:cond evt="onBegin" delay="0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3282</Words>
  <Application>Microsoft Office PowerPoint</Application>
  <PresentationFormat>Widescreen</PresentationFormat>
  <Paragraphs>344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Sukumar Karnam</cp:lastModifiedBy>
  <cp:revision>2</cp:revision>
  <dcterms:created xsi:type="dcterms:W3CDTF">2013-01-27T09:14:16Z</dcterms:created>
  <dcterms:modified xsi:type="dcterms:W3CDTF">2026-06-23T04:02:42Z</dcterms:modified>
  <cp:category/>
</cp:coreProperties>
</file>